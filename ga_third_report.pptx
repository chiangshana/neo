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UqcWG4hFy/QqaWTEVdhEnuKcS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4b4e5f2fc_1_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g3d4b4e5f2fc_1_9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我們沒有直接把染色體設計成「每張訂單的具體日期」，而是用「排序」來做。這樣比較容易重排，也比較符合 GA 的搜尋特性。最後再加上訂單分開日期做的懲罰項即可。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" name="Google Shape;44;g3d4b4e5f2fc_1_9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4b4e5f2fc_1_1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g3d4b4e5f2fc_1_1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這樣做的原因：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不讓所有初始解都太像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保留多樣性，避免太早收斂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同時保留一些具實際意義的起始排序(因為新訂單有可能會隨時進來，或是修改原訂單)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" name="Google Shape;85;g3d4b4e5f2fc_1_1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4b4e5f2fc_1_1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d4b4e5f2fc_1_1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8" name="Google Shape;108;g3d4b4e5f2fc_1_1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4b4e5f2fc_1_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d4b4e5f2fc_1_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強調一個觀念：GA 找到低 fitness 的解，不代表一定合理，所以我們另外加了 validation，避免出現「看起來分數低，但其實違規」的結果。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d4b4e5f2fc_1_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d59353df6_0_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g3dd59353df6_0_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8" name="Google Shape;158;g3dd59353df6_0_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d59353df6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g3dd59353df6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" name="Google Shape;177;g3dd59353df6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d59353df6_0_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3dd59353df6_0_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" name="Google Shape;191;g3dd59353df6_0_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gradient_16x9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92765"/>
            <a:ext cx="12304623" cy="6969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569" y="-55527"/>
            <a:ext cx="12381192" cy="696905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701040" y="23191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4400"/>
              <a:buFont typeface="Microsoft JhengHei"/>
              <a:buNone/>
            </a:pPr>
            <a:r>
              <a:rPr b="1" i="0" lang="en-US" sz="4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 Neogence</a:t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06787" y="5779405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icrosoft JhengHei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4/</a:t>
            </a:r>
            <a:r>
              <a:rPr lang="en-US"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19</a:t>
            </a:r>
            <a:r>
              <a:rPr b="0" i="0" lang="en-US" sz="18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第</a:t>
            </a:r>
            <a:r>
              <a:rPr lang="en-US"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8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06787" y="6190886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icrosoft JhengHei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第二組 – 湯語蕎、周宴綸、林姿廷、江郁文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descr="現代科技風格商業簡報背景" id="17" name="Google Shape;17;p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623016" y="3119228"/>
            <a:ext cx="294595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3A38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工廠訂單排程</a:t>
            </a:r>
            <a:endParaRPr b="0" i="0" sz="2800" u="none" cap="none" strike="noStrike">
              <a:solidFill>
                <a:srgbClr val="3A38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506521" y="3683108"/>
            <a:ext cx="5178951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3A38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商業資料分析統整課程</a:t>
            </a:r>
            <a:endParaRPr b="0" i="0" sz="2800" u="none" cap="none" strike="noStrike">
              <a:solidFill>
                <a:srgbClr val="3A38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618744" y="1720928"/>
            <a:ext cx="5248656" cy="379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93064" y="1922096"/>
            <a:ext cx="4700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回顧｜上次進度報告重點</a:t>
            </a:r>
            <a:endParaRPr b="0" i="0" sz="1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7" name="Google Shape;27;p2"/>
          <p:cNvCxnSpPr/>
          <p:nvPr/>
        </p:nvCxnSpPr>
        <p:spPr>
          <a:xfrm>
            <a:off x="893064" y="2287856"/>
            <a:ext cx="4700016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"/>
          <p:cNvSpPr/>
          <p:nvPr/>
        </p:nvSpPr>
        <p:spPr>
          <a:xfrm>
            <a:off x="893064" y="2361008"/>
            <a:ext cx="47001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600"/>
              <a:buFont typeface="Microsoft JhengHei"/>
              <a:buChar char="●"/>
            </a:pPr>
            <a:r>
              <a:rPr b="0" i="0" lang="en-US" sz="16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遺傳算法：</a:t>
            </a:r>
            <a:endParaRPr b="0" i="0" sz="1600" u="none" cap="none" strike="noStrike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(1) </a:t>
            </a: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 pseudo code 形式整理 GA 流程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(2) 初步確認染色體可用「訂單排序」表示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(3) 開始整理限制式與懲罰項方向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(4) 確認可產生排程結果(實數解)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●"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PA: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(1) </a:t>
            </a:r>
            <a:r>
              <a:rPr lang="en-US" sz="16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收斂完畢「必須滿足」與「可容忍」的限制式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(2) 初步完成 LP baseline（可行解）並試產出排程結果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096000" y="1720928"/>
            <a:ext cx="5248656" cy="379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370320" y="1922096"/>
            <a:ext cx="4700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Next Step｜本次～下次</a:t>
            </a:r>
            <a:endParaRPr b="0" i="0" sz="1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6370320" y="2287856"/>
            <a:ext cx="4700016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6370320" y="2361008"/>
            <a:ext cx="4700016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本次: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●"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回推BOM表資料時之實際效能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●"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確認可產生排程結果(整數解)。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●"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建立資料讀取、建模、排程、驗證、輸出的程式流程(已更新在Github上)。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●"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可輸出正式版排程表、每日負荷表、異常訂單表、以及附註欄位說明表(以供同學與業主確認)。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下次: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●"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加入清洗機器的時間與人力調動表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●"/>
            </a:pPr>
            <a:r>
              <a:rPr lang="en-US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統一輸入與輸出格式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0040" y="65653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霓淨思工廠訂單排程｜第</a:t>
            </a: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789920" y="656539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1/11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/mnt/data/header_gradient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56A9B8"/>
          </a:solidFill>
          <a:ln cap="flat" cmpd="sng" w="12700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" y="1645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專案回顧｜研究方法與現況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561320" y="201168"/>
            <a:ext cx="1417320" cy="384048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561320" y="237744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320040" y="6519672"/>
            <a:ext cx="11551615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eader_gradient.png" id="46" name="Google Shape;46;g3d4b4e5f2fc_1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d4b4e5f2fc_1_93"/>
          <p:cNvSpPr/>
          <p:nvPr/>
        </p:nvSpPr>
        <p:spPr>
          <a:xfrm>
            <a:off x="0" y="0"/>
            <a:ext cx="109800" cy="777300"/>
          </a:xfrm>
          <a:prstGeom prst="rect">
            <a:avLst/>
          </a:prstGeom>
          <a:solidFill>
            <a:srgbClr val="56A9B8"/>
          </a:solidFill>
          <a:ln cap="flat" cmpd="sng" w="12700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d4b4e5f2fc_1_93"/>
          <p:cNvSpPr/>
          <p:nvPr/>
        </p:nvSpPr>
        <p:spPr>
          <a:xfrm>
            <a:off x="320040" y="164592"/>
            <a:ext cx="9875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目前使用的方法｜</a:t>
            </a:r>
            <a:r>
              <a:rPr b="1" lang="en-US" sz="24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遺傳算法</a:t>
            </a: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</a:t>
            </a:r>
            <a:r>
              <a:rPr b="1" lang="en-US" sz="24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GA</a:t>
            </a: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）</a:t>
            </a:r>
            <a:r>
              <a:rPr b="1" lang="en-US" sz="24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建模架構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" name="Google Shape;49;g3d4b4e5f2fc_1_93"/>
          <p:cNvSpPr/>
          <p:nvPr/>
        </p:nvSpPr>
        <p:spPr>
          <a:xfrm>
            <a:off x="10561320" y="201168"/>
            <a:ext cx="1417200" cy="384000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d4b4e5f2fc_1_93"/>
          <p:cNvSpPr/>
          <p:nvPr/>
        </p:nvSpPr>
        <p:spPr>
          <a:xfrm>
            <a:off x="10561320" y="237744"/>
            <a:ext cx="141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Method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51" name="Google Shape;51;g3d4b4e5f2fc_1_93"/>
          <p:cNvCxnSpPr/>
          <p:nvPr/>
        </p:nvCxnSpPr>
        <p:spPr>
          <a:xfrm>
            <a:off x="320040" y="6519672"/>
            <a:ext cx="11551500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g3d4b4e5f2fc_1_93"/>
          <p:cNvSpPr/>
          <p:nvPr/>
        </p:nvSpPr>
        <p:spPr>
          <a:xfrm>
            <a:off x="320040" y="6565392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霓淨思工廠訂單排程｜第</a:t>
            </a: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" name="Google Shape;53;g3d4b4e5f2fc_1_93"/>
          <p:cNvSpPr/>
          <p:nvPr/>
        </p:nvSpPr>
        <p:spPr>
          <a:xfrm>
            <a:off x="10789920" y="6565392"/>
            <a:ext cx="107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/11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" name="Google Shape;54;g3d4b4e5f2fc_1_93"/>
          <p:cNvSpPr/>
          <p:nvPr/>
        </p:nvSpPr>
        <p:spPr>
          <a:xfrm>
            <a:off x="944863" y="1572392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300"/>
              <a:buFont typeface="Microsoft JhengHe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" name="Google Shape;55;g3d4b4e5f2fc_1_93"/>
          <p:cNvSpPr/>
          <p:nvPr/>
        </p:nvSpPr>
        <p:spPr>
          <a:xfrm>
            <a:off x="320050" y="996963"/>
            <a:ext cx="4434900" cy="250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d4b4e5f2fc_1_93"/>
          <p:cNvSpPr/>
          <p:nvPr/>
        </p:nvSpPr>
        <p:spPr>
          <a:xfrm>
            <a:off x="617137" y="1180373"/>
            <a:ext cx="3924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基本流程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57" name="Google Shape;57;g3d4b4e5f2fc_1_93"/>
          <p:cNvCxnSpPr/>
          <p:nvPr/>
        </p:nvCxnSpPr>
        <p:spPr>
          <a:xfrm>
            <a:off x="617134" y="1601134"/>
            <a:ext cx="3999300" cy="360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g3d4b4e5f2fc_1_93"/>
          <p:cNvSpPr/>
          <p:nvPr/>
        </p:nvSpPr>
        <p:spPr>
          <a:xfrm>
            <a:off x="616786" y="1809088"/>
            <a:ext cx="41226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625"/>
              </a:buClr>
              <a:buSzPts val="1400"/>
              <a:buFont typeface="Microsoft JhengHei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染色體：一條訂單排序序列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625"/>
              </a:buClr>
              <a:buSzPts val="1400"/>
              <a:buFont typeface="Microsoft JhengHei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個體：一個完整的訂單排序方案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625"/>
              </a:buClr>
              <a:buSzPts val="1400"/>
              <a:buFont typeface="Microsoft JhengHei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執行方式：依照排序，逐張訂單往時間軸中安插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625"/>
              </a:buClr>
              <a:buSzPts val="1400"/>
              <a:buFont typeface="Microsoft JhengHei"/>
              <a:buNone/>
            </a:pPr>
            <a:r>
              <a:t/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9" name="Google Shape;59;g3d4b4e5f2fc_1_93"/>
          <p:cNvSpPr/>
          <p:nvPr/>
        </p:nvSpPr>
        <p:spPr>
          <a:xfrm>
            <a:off x="944863" y="4363604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300"/>
              <a:buFont typeface="Microsoft JhengHe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" name="Google Shape;60;g3d4b4e5f2fc_1_93"/>
          <p:cNvSpPr/>
          <p:nvPr/>
        </p:nvSpPr>
        <p:spPr>
          <a:xfrm>
            <a:off x="320050" y="3716400"/>
            <a:ext cx="2478000" cy="265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d4b4e5f2fc_1_93"/>
          <p:cNvSpPr/>
          <p:nvPr/>
        </p:nvSpPr>
        <p:spPr>
          <a:xfrm>
            <a:off x="617137" y="3900910"/>
            <a:ext cx="3924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產生工序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62" name="Google Shape;62;g3d4b4e5f2fc_1_93"/>
          <p:cNvCxnSpPr>
            <a:endCxn id="61" idx="2"/>
          </p:cNvCxnSpPr>
          <p:nvPr/>
        </p:nvCxnSpPr>
        <p:spPr>
          <a:xfrm>
            <a:off x="616987" y="4321810"/>
            <a:ext cx="1962600" cy="2190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g3d4b4e5f2fc_1_93"/>
          <p:cNvSpPr/>
          <p:nvPr/>
        </p:nvSpPr>
        <p:spPr>
          <a:xfrm>
            <a:off x="616786" y="4529625"/>
            <a:ext cx="41226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Cat1：預攪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Cat2：攪料清洗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Cat3：排瓶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Cat4：充填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625"/>
              </a:buClr>
              <a:buSzPts val="1400"/>
              <a:buFont typeface="Microsoft JhengHei"/>
              <a:buNone/>
            </a:pPr>
            <a:r>
              <a:t/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625"/>
              </a:buClr>
              <a:buSzPts val="1400"/>
              <a:buFont typeface="Microsoft JhengHei"/>
              <a:buNone/>
            </a:pPr>
            <a:r>
              <a:t/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4" name="Google Shape;64;g3d4b4e5f2fc_1_93"/>
          <p:cNvSpPr/>
          <p:nvPr/>
        </p:nvSpPr>
        <p:spPr>
          <a:xfrm>
            <a:off x="5968038" y="1643067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300"/>
              <a:buFont typeface="Microsoft JhengHe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" name="Google Shape;65;g3d4b4e5f2fc_1_93"/>
          <p:cNvSpPr/>
          <p:nvPr/>
        </p:nvSpPr>
        <p:spPr>
          <a:xfrm>
            <a:off x="5449888" y="1388975"/>
            <a:ext cx="6488400" cy="440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d4b4e5f2fc_1_93"/>
          <p:cNvSpPr/>
          <p:nvPr/>
        </p:nvSpPr>
        <p:spPr>
          <a:xfrm>
            <a:off x="5884529" y="1572385"/>
            <a:ext cx="57420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67" name="Google Shape;67;g3d4b4e5f2fc_1_93"/>
          <p:cNvCxnSpPr/>
          <p:nvPr/>
        </p:nvCxnSpPr>
        <p:spPr>
          <a:xfrm>
            <a:off x="5746972" y="1993134"/>
            <a:ext cx="3999300" cy="360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g3d4b4e5f2fc_1_93"/>
          <p:cNvSpPr/>
          <p:nvPr/>
        </p:nvSpPr>
        <p:spPr>
          <a:xfrm>
            <a:off x="5884015" y="2201100"/>
            <a:ext cx="60315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模型評分邏輯：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Objective = total_overtime + infeasible_penalty + target_penalty`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其中：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total_overtime：總加班分鐘數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infeasible_penalty：違反硬限制的高額懲罰(例如工序順序錯誤和沒排入訂單)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target_penalty：偏離目標加班上限的懲罰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625"/>
              </a:buClr>
              <a:buSzPts val="1400"/>
              <a:buFont typeface="Microsoft JhengHei"/>
              <a:buNone/>
            </a:pPr>
            <a:r>
              <a:t/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625"/>
              </a:buClr>
              <a:buSzPts val="1400"/>
              <a:buFont typeface="Microsoft JhengHei"/>
              <a:buNone/>
            </a:pPr>
            <a:r>
              <a:t/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9" name="Google Shape;69;g3d4b4e5f2fc_1_93"/>
          <p:cNvSpPr/>
          <p:nvPr/>
        </p:nvSpPr>
        <p:spPr>
          <a:xfrm>
            <a:off x="1344550" y="3397050"/>
            <a:ext cx="549600" cy="502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7A9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d4b4e5f2fc_1_93"/>
          <p:cNvSpPr/>
          <p:nvPr/>
        </p:nvSpPr>
        <p:spPr>
          <a:xfrm>
            <a:off x="8363350" y="868488"/>
            <a:ext cx="549600" cy="502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7A9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d4b4e5f2fc_1_93"/>
          <p:cNvSpPr/>
          <p:nvPr/>
        </p:nvSpPr>
        <p:spPr>
          <a:xfrm>
            <a:off x="2918650" y="5889594"/>
            <a:ext cx="2018700" cy="543600"/>
          </a:xfrm>
          <a:prstGeom prst="roundRect">
            <a:avLst>
              <a:gd fmla="val 16667" name="adj"/>
            </a:avLst>
          </a:prstGeom>
          <a:solidFill>
            <a:srgbClr val="F3F5F6"/>
          </a:solidFill>
          <a:ln cap="flat" cmpd="sng" w="112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d4b4e5f2fc_1_93"/>
          <p:cNvSpPr/>
          <p:nvPr/>
        </p:nvSpPr>
        <p:spPr>
          <a:xfrm>
            <a:off x="2918677" y="5957245"/>
            <a:ext cx="20187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50" lIns="80725" spcFirstLastPara="1" rIns="80725" wrap="square" tIns="40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192"/>
              <a:buFont typeface="Microsoft JhengHei"/>
              <a:buNone/>
            </a:pPr>
            <a:r>
              <a:rPr b="1" lang="en-US" sz="1192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預攪</a:t>
            </a:r>
            <a:endParaRPr sz="1192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" name="Google Shape;73;g3d4b4e5f2fc_1_93"/>
          <p:cNvSpPr/>
          <p:nvPr/>
        </p:nvSpPr>
        <p:spPr>
          <a:xfrm>
            <a:off x="5378205" y="6080505"/>
            <a:ext cx="214800" cy="17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A9B8">
              <a:alpha val="90200"/>
            </a:srgbClr>
          </a:solidFill>
          <a:ln cap="flat" cmpd="sng" w="10275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000" lIns="74000" spcFirstLastPara="1" rIns="74000" wrap="square" tIns="7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d4b4e5f2fc_1_93"/>
          <p:cNvSpPr/>
          <p:nvPr/>
        </p:nvSpPr>
        <p:spPr>
          <a:xfrm>
            <a:off x="5300610" y="5889594"/>
            <a:ext cx="2018700" cy="543600"/>
          </a:xfrm>
          <a:prstGeom prst="roundRect">
            <a:avLst>
              <a:gd fmla="val 16667" name="adj"/>
            </a:avLst>
          </a:prstGeom>
          <a:solidFill>
            <a:srgbClr val="F3F5F6"/>
          </a:solidFill>
          <a:ln cap="flat" cmpd="sng" w="112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d4b4e5f2fc_1_93"/>
          <p:cNvSpPr/>
          <p:nvPr/>
        </p:nvSpPr>
        <p:spPr>
          <a:xfrm>
            <a:off x="5300610" y="5957245"/>
            <a:ext cx="20187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50" lIns="80725" spcFirstLastPara="1" rIns="80725" wrap="square" tIns="40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192"/>
              <a:buFont typeface="Microsoft JhengHei"/>
              <a:buNone/>
            </a:pPr>
            <a:r>
              <a:rPr b="1" lang="en-US" sz="1192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攪料</a:t>
            </a:r>
            <a:r>
              <a:rPr b="1" lang="en-US" sz="1192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清洗</a:t>
            </a:r>
            <a:endParaRPr sz="1192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6" name="Google Shape;76;g3d4b4e5f2fc_1_93"/>
          <p:cNvSpPr/>
          <p:nvPr/>
        </p:nvSpPr>
        <p:spPr>
          <a:xfrm>
            <a:off x="7561496" y="6080505"/>
            <a:ext cx="214800" cy="17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A9B8">
              <a:alpha val="90200"/>
            </a:srgbClr>
          </a:solidFill>
          <a:ln cap="flat" cmpd="sng" w="10275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000" lIns="74000" spcFirstLastPara="1" rIns="74000" wrap="square" tIns="7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d4b4e5f2fc_1_93"/>
          <p:cNvSpPr/>
          <p:nvPr/>
        </p:nvSpPr>
        <p:spPr>
          <a:xfrm>
            <a:off x="7682569" y="5889594"/>
            <a:ext cx="2018700" cy="543600"/>
          </a:xfrm>
          <a:prstGeom prst="roundRect">
            <a:avLst>
              <a:gd fmla="val 16667" name="adj"/>
            </a:avLst>
          </a:prstGeom>
          <a:solidFill>
            <a:srgbClr val="F3F5F6"/>
          </a:solidFill>
          <a:ln cap="flat" cmpd="sng" w="112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d4b4e5f2fc_1_93"/>
          <p:cNvSpPr/>
          <p:nvPr/>
        </p:nvSpPr>
        <p:spPr>
          <a:xfrm>
            <a:off x="7682569" y="5957245"/>
            <a:ext cx="20187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50" lIns="80725" spcFirstLastPara="1" rIns="80725" wrap="square" tIns="40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192"/>
              <a:buFont typeface="Microsoft JhengHei"/>
              <a:buNone/>
            </a:pPr>
            <a:r>
              <a:rPr b="1" lang="en-US" sz="1192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排瓶</a:t>
            </a:r>
            <a:endParaRPr sz="1192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" name="Google Shape;79;g3d4b4e5f2fc_1_93"/>
          <p:cNvSpPr/>
          <p:nvPr/>
        </p:nvSpPr>
        <p:spPr>
          <a:xfrm>
            <a:off x="9744787" y="6075893"/>
            <a:ext cx="214800" cy="17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A9B8">
              <a:alpha val="90200"/>
            </a:srgbClr>
          </a:solidFill>
          <a:ln cap="flat" cmpd="sng" w="10275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000" lIns="74000" spcFirstLastPara="1" rIns="74000" wrap="square" tIns="7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d4b4e5f2fc_1_93"/>
          <p:cNvSpPr/>
          <p:nvPr/>
        </p:nvSpPr>
        <p:spPr>
          <a:xfrm>
            <a:off x="10064529" y="5884562"/>
            <a:ext cx="2018700" cy="543600"/>
          </a:xfrm>
          <a:prstGeom prst="roundRect">
            <a:avLst>
              <a:gd fmla="val 16667" name="adj"/>
            </a:avLst>
          </a:prstGeom>
          <a:solidFill>
            <a:srgbClr val="F3F5F6"/>
          </a:solidFill>
          <a:ln cap="flat" cmpd="sng" w="112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d4b4e5f2fc_1_93"/>
          <p:cNvSpPr/>
          <p:nvPr/>
        </p:nvSpPr>
        <p:spPr>
          <a:xfrm>
            <a:off x="10064529" y="5952214"/>
            <a:ext cx="20187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50" lIns="80725" spcFirstLastPara="1" rIns="80725" wrap="square" tIns="40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192"/>
              <a:buFont typeface="Microsoft JhengHei"/>
              <a:buNone/>
            </a:pPr>
            <a:r>
              <a:rPr b="1" lang="en-US" sz="1192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充填</a:t>
            </a:r>
            <a:endParaRPr sz="1192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eader_gradient.png" id="87" name="Google Shape;87;g3d4b4e5f2fc_1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d4b4e5f2fc_1_123"/>
          <p:cNvSpPr/>
          <p:nvPr/>
        </p:nvSpPr>
        <p:spPr>
          <a:xfrm>
            <a:off x="0" y="0"/>
            <a:ext cx="109800" cy="777300"/>
          </a:xfrm>
          <a:prstGeom prst="rect">
            <a:avLst/>
          </a:prstGeom>
          <a:solidFill>
            <a:srgbClr val="56A9B8"/>
          </a:solidFill>
          <a:ln cap="flat" cmpd="sng" w="12700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4b4e5f2fc_1_123"/>
          <p:cNvSpPr/>
          <p:nvPr/>
        </p:nvSpPr>
        <p:spPr>
          <a:xfrm>
            <a:off x="320040" y="164592"/>
            <a:ext cx="9875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目前使用的方法｜</a:t>
            </a:r>
            <a:r>
              <a:rPr b="1" lang="en-US" sz="24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GA 初始族群與演化設定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0" name="Google Shape;90;g3d4b4e5f2fc_1_123"/>
          <p:cNvSpPr/>
          <p:nvPr/>
        </p:nvSpPr>
        <p:spPr>
          <a:xfrm>
            <a:off x="10561320" y="201168"/>
            <a:ext cx="1417200" cy="384000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d4b4e5f2fc_1_123"/>
          <p:cNvSpPr/>
          <p:nvPr/>
        </p:nvSpPr>
        <p:spPr>
          <a:xfrm>
            <a:off x="10561320" y="237744"/>
            <a:ext cx="141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Method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92" name="Google Shape;92;g3d4b4e5f2fc_1_123"/>
          <p:cNvCxnSpPr/>
          <p:nvPr/>
        </p:nvCxnSpPr>
        <p:spPr>
          <a:xfrm>
            <a:off x="320040" y="6519672"/>
            <a:ext cx="11551500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g3d4b4e5f2fc_1_123"/>
          <p:cNvSpPr/>
          <p:nvPr/>
        </p:nvSpPr>
        <p:spPr>
          <a:xfrm>
            <a:off x="320040" y="6565392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霓淨思工廠訂單排程｜第</a:t>
            </a: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4" name="Google Shape;94;g3d4b4e5f2fc_1_123"/>
          <p:cNvSpPr/>
          <p:nvPr/>
        </p:nvSpPr>
        <p:spPr>
          <a:xfrm>
            <a:off x="10789920" y="6565392"/>
            <a:ext cx="107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/11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" name="Google Shape;95;g3d4b4e5f2fc_1_123"/>
          <p:cNvSpPr/>
          <p:nvPr/>
        </p:nvSpPr>
        <p:spPr>
          <a:xfrm>
            <a:off x="320050" y="1053825"/>
            <a:ext cx="4587600" cy="25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d4b4e5f2fc_1_123"/>
          <p:cNvSpPr/>
          <p:nvPr/>
        </p:nvSpPr>
        <p:spPr>
          <a:xfrm>
            <a:off x="510239" y="1269558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本次GA主要參數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97" name="Google Shape;97;g3d4b4e5f2fc_1_123"/>
          <p:cNvCxnSpPr/>
          <p:nvPr/>
        </p:nvCxnSpPr>
        <p:spPr>
          <a:xfrm>
            <a:off x="433355" y="1811700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g3d4b4e5f2fc_1_123"/>
          <p:cNvSpPr txBox="1"/>
          <p:nvPr/>
        </p:nvSpPr>
        <p:spPr>
          <a:xfrm>
            <a:off x="510234" y="2027437"/>
            <a:ext cx="4227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population_size = 40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generations = 120 (已訓練120代)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mutation_rate = 0.15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crossover_rate = 0.85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9" name="Google Shape;99;g3d4b4e5f2fc_1_123"/>
          <p:cNvSpPr/>
          <p:nvPr/>
        </p:nvSpPr>
        <p:spPr>
          <a:xfrm>
            <a:off x="320050" y="3741095"/>
            <a:ext cx="4587600" cy="25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4b4e5f2fc_1_123"/>
          <p:cNvSpPr/>
          <p:nvPr/>
        </p:nvSpPr>
        <p:spPr>
          <a:xfrm>
            <a:off x="510239" y="3956833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排序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01" name="Google Shape;101;g3d4b4e5f2fc_1_123"/>
          <p:cNvCxnSpPr/>
          <p:nvPr/>
        </p:nvCxnSpPr>
        <p:spPr>
          <a:xfrm>
            <a:off x="433355" y="4498975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g3d4b4e5f2fc_1_123"/>
          <p:cNvSpPr txBox="1"/>
          <p:nvPr/>
        </p:nvSpPr>
        <p:spPr>
          <a:xfrm>
            <a:off x="560984" y="4603412"/>
            <a:ext cx="4227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依交期排序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依物料齊料點排序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依原料齊料點排序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部分負荷導向排序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隨機打散排序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3" name="Google Shape;103;g3d4b4e5f2fc_1_123"/>
          <p:cNvSpPr txBox="1"/>
          <p:nvPr/>
        </p:nvSpPr>
        <p:spPr>
          <a:xfrm>
            <a:off x="5401275" y="2339150"/>
            <a:ext cx="4227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@dataclass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GeneticScheduler: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population_size: int = 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generations: int = 120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mutation_rate: float = 0.15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crossover_rate: float = 0.85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elite_count: int =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tournament_size: int 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seed: int = 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4b4e5f2fc_1_123"/>
          <p:cNvSpPr txBox="1"/>
          <p:nvPr/>
        </p:nvSpPr>
        <p:spPr>
          <a:xfrm>
            <a:off x="8449125" y="1811700"/>
            <a:ext cx="30831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 _initialize_population(self, orders: list[Order]) -&gt; list[list[Order]]: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base = sorted(orders, key=lambda item: (item.due_date, item.material_ready_date, item.order_id))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population = [base]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population.append(sorted(orders, key=lambda item: (item.material_ready_date, item.due_date)))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population.append(sorted(orders, key=lambda item: (item.raw_ready_date, item.due_date)))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eader_gradient.png" id="110" name="Google Shape;110;g3d4b4e5f2fc_1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d4b4e5f2fc_1_136"/>
          <p:cNvSpPr/>
          <p:nvPr/>
        </p:nvSpPr>
        <p:spPr>
          <a:xfrm>
            <a:off x="0" y="0"/>
            <a:ext cx="109800" cy="777300"/>
          </a:xfrm>
          <a:prstGeom prst="rect">
            <a:avLst/>
          </a:prstGeom>
          <a:solidFill>
            <a:srgbClr val="56A9B8"/>
          </a:solidFill>
          <a:ln cap="flat" cmpd="sng" w="12700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d4b4e5f2fc_1_136"/>
          <p:cNvSpPr/>
          <p:nvPr/>
        </p:nvSpPr>
        <p:spPr>
          <a:xfrm>
            <a:off x="320040" y="164592"/>
            <a:ext cx="9875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目前使用的方法｜</a:t>
            </a:r>
            <a:r>
              <a:rPr b="1" lang="en-US" sz="24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GA 限制處理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3" name="Google Shape;113;g3d4b4e5f2fc_1_136"/>
          <p:cNvSpPr/>
          <p:nvPr/>
        </p:nvSpPr>
        <p:spPr>
          <a:xfrm>
            <a:off x="10561320" y="201168"/>
            <a:ext cx="1417200" cy="384000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d4b4e5f2fc_1_136"/>
          <p:cNvSpPr/>
          <p:nvPr/>
        </p:nvSpPr>
        <p:spPr>
          <a:xfrm>
            <a:off x="10561320" y="237744"/>
            <a:ext cx="141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Method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15" name="Google Shape;115;g3d4b4e5f2fc_1_136"/>
          <p:cNvCxnSpPr/>
          <p:nvPr/>
        </p:nvCxnSpPr>
        <p:spPr>
          <a:xfrm>
            <a:off x="320040" y="6519672"/>
            <a:ext cx="11551500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g3d4b4e5f2fc_1_136"/>
          <p:cNvSpPr/>
          <p:nvPr/>
        </p:nvSpPr>
        <p:spPr>
          <a:xfrm>
            <a:off x="320040" y="6565392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霓淨思工廠訂單排程｜第</a:t>
            </a: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" name="Google Shape;117;g3d4b4e5f2fc_1_136"/>
          <p:cNvSpPr/>
          <p:nvPr/>
        </p:nvSpPr>
        <p:spPr>
          <a:xfrm>
            <a:off x="10789920" y="6565392"/>
            <a:ext cx="107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/11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8" name="Google Shape;118;g3d4b4e5f2fc_1_136"/>
          <p:cNvSpPr/>
          <p:nvPr/>
        </p:nvSpPr>
        <p:spPr>
          <a:xfrm>
            <a:off x="320050" y="1053825"/>
            <a:ext cx="4587600" cy="252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d4b4e5f2fc_1_136"/>
          <p:cNvSpPr/>
          <p:nvPr/>
        </p:nvSpPr>
        <p:spPr>
          <a:xfrm>
            <a:off x="510239" y="1269558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資料與日期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20" name="Google Shape;120;g3d4b4e5f2fc_1_136"/>
          <p:cNvCxnSpPr/>
          <p:nvPr/>
        </p:nvCxnSpPr>
        <p:spPr>
          <a:xfrm>
            <a:off x="433355" y="1811700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g3d4b4e5f2fc_1_136"/>
          <p:cNvSpPr txBox="1"/>
          <p:nvPr/>
        </p:nvSpPr>
        <p:spPr>
          <a:xfrm>
            <a:off x="510234" y="2027437"/>
            <a:ext cx="42276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製造不得早於 raw_ready_date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排瓶/充填不得早</a:t>
            </a: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於 </a:t>
            </a: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material_ready_date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所有工序不得晚於 due_date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2" name="Google Shape;122;g3d4b4e5f2fc_1_136"/>
          <p:cNvSpPr/>
          <p:nvPr/>
        </p:nvSpPr>
        <p:spPr>
          <a:xfrm>
            <a:off x="320050" y="3856411"/>
            <a:ext cx="4587600" cy="2234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d4b4e5f2fc_1_136"/>
          <p:cNvSpPr/>
          <p:nvPr/>
        </p:nvSpPr>
        <p:spPr>
          <a:xfrm>
            <a:off x="510239" y="4072133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製造流程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24" name="Google Shape;124;g3d4b4e5f2fc_1_136"/>
          <p:cNvCxnSpPr/>
          <p:nvPr/>
        </p:nvCxnSpPr>
        <p:spPr>
          <a:xfrm>
            <a:off x="433355" y="4614275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g3d4b4e5f2fc_1_136"/>
          <p:cNvSpPr txBox="1"/>
          <p:nvPr/>
        </p:nvSpPr>
        <p:spPr>
          <a:xfrm>
            <a:off x="510234" y="4830012"/>
            <a:ext cx="42276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預攪一定要在攪料前一天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製造與充填人力分開，不共用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製造端依機器與人力容量安排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6" name="Google Shape;126;g3d4b4e5f2fc_1_136"/>
          <p:cNvSpPr/>
          <p:nvPr/>
        </p:nvSpPr>
        <p:spPr>
          <a:xfrm>
            <a:off x="5760050" y="1053825"/>
            <a:ext cx="5953200" cy="2475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d4b4e5f2fc_1_136"/>
          <p:cNvSpPr/>
          <p:nvPr/>
        </p:nvSpPr>
        <p:spPr>
          <a:xfrm>
            <a:off x="5950239" y="1269558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充填流程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28" name="Google Shape;128;g3d4b4e5f2fc_1_136"/>
          <p:cNvCxnSpPr/>
          <p:nvPr/>
        </p:nvCxnSpPr>
        <p:spPr>
          <a:xfrm>
            <a:off x="5873355" y="1811700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g3d4b4e5f2fc_1_136"/>
          <p:cNvSpPr txBox="1"/>
          <p:nvPr/>
        </p:nvSpPr>
        <p:spPr>
          <a:xfrm>
            <a:off x="5950225" y="2027425"/>
            <a:ext cx="54756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排瓶原則上要在充填前一天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若資料窗過緊，允許特定情況下同天排瓶＋充填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排瓶最多投入 2 人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充填與排瓶依 5 分鐘切分與安排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0" name="Google Shape;130;g3d4b4e5f2fc_1_136"/>
          <p:cNvSpPr/>
          <p:nvPr/>
        </p:nvSpPr>
        <p:spPr>
          <a:xfrm>
            <a:off x="5760050" y="3702063"/>
            <a:ext cx="5953200" cy="269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d4b4e5f2fc_1_136"/>
          <p:cNvSpPr/>
          <p:nvPr/>
        </p:nvSpPr>
        <p:spPr>
          <a:xfrm>
            <a:off x="5950239" y="3917796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輸出邏輯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32" name="Google Shape;132;g3d4b4e5f2fc_1_136"/>
          <p:cNvCxnSpPr/>
          <p:nvPr/>
        </p:nvCxnSpPr>
        <p:spPr>
          <a:xfrm>
            <a:off x="5873355" y="4459938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g3d4b4e5f2fc_1_136"/>
          <p:cNvSpPr txBox="1"/>
          <p:nvPr/>
        </p:nvSpPr>
        <p:spPr>
          <a:xfrm>
            <a:off x="5950225" y="4675663"/>
            <a:ext cx="5475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統一改成整數解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同日、同訂單、同工序會先合併，避免輸出過於碎片化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reference format 會同時顯示「標準配置人數」與「實際安排人數」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eader_gradient.png" id="139" name="Google Shape;139;g3d4b4e5f2fc_1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d4b4e5f2fc_1_66"/>
          <p:cNvSpPr/>
          <p:nvPr/>
        </p:nvSpPr>
        <p:spPr>
          <a:xfrm>
            <a:off x="0" y="0"/>
            <a:ext cx="109800" cy="777300"/>
          </a:xfrm>
          <a:prstGeom prst="rect">
            <a:avLst/>
          </a:prstGeom>
          <a:solidFill>
            <a:srgbClr val="56A9B8"/>
          </a:solidFill>
          <a:ln cap="flat" cmpd="sng" w="12700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d4b4e5f2fc_1_66"/>
          <p:cNvSpPr/>
          <p:nvPr/>
        </p:nvSpPr>
        <p:spPr>
          <a:xfrm>
            <a:off x="320040" y="164592"/>
            <a:ext cx="9875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目前使用的方法｜</a:t>
            </a:r>
            <a:r>
              <a:rPr b="1" lang="en-US" sz="24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GA 適應度函數與驗證機制</a:t>
            </a:r>
            <a:endParaRPr b="1" i="0" sz="2400" u="none" cap="none" strike="noStrike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2" name="Google Shape;142;g3d4b4e5f2fc_1_66"/>
          <p:cNvSpPr/>
          <p:nvPr/>
        </p:nvSpPr>
        <p:spPr>
          <a:xfrm>
            <a:off x="10561320" y="201168"/>
            <a:ext cx="1417200" cy="384000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d4b4e5f2fc_1_66"/>
          <p:cNvSpPr/>
          <p:nvPr/>
        </p:nvSpPr>
        <p:spPr>
          <a:xfrm>
            <a:off x="10561320" y="237744"/>
            <a:ext cx="141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Method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44" name="Google Shape;144;g3d4b4e5f2fc_1_66"/>
          <p:cNvCxnSpPr/>
          <p:nvPr/>
        </p:nvCxnSpPr>
        <p:spPr>
          <a:xfrm>
            <a:off x="320040" y="6519672"/>
            <a:ext cx="11551500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g3d4b4e5f2fc_1_66"/>
          <p:cNvSpPr/>
          <p:nvPr/>
        </p:nvSpPr>
        <p:spPr>
          <a:xfrm>
            <a:off x="320040" y="6565392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霓淨思工廠訂單排程｜第</a:t>
            </a: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6" name="Google Shape;146;g3d4b4e5f2fc_1_66"/>
          <p:cNvSpPr/>
          <p:nvPr/>
        </p:nvSpPr>
        <p:spPr>
          <a:xfrm>
            <a:off x="10789920" y="6565392"/>
            <a:ext cx="107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/11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7" name="Google Shape;147;g3d4b4e5f2fc_1_66"/>
          <p:cNvSpPr/>
          <p:nvPr/>
        </p:nvSpPr>
        <p:spPr>
          <a:xfrm>
            <a:off x="320050" y="1053825"/>
            <a:ext cx="4966500" cy="5246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d4b4e5f2fc_1_66"/>
          <p:cNvSpPr/>
          <p:nvPr/>
        </p:nvSpPr>
        <p:spPr>
          <a:xfrm>
            <a:off x="510239" y="1269558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三層</a:t>
            </a: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適應度</a:t>
            </a: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函數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49" name="Google Shape;149;g3d4b4e5f2fc_1_66"/>
          <p:cNvCxnSpPr/>
          <p:nvPr/>
        </p:nvCxnSpPr>
        <p:spPr>
          <a:xfrm>
            <a:off x="433355" y="1811700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g3d4b4e5f2fc_1_66"/>
          <p:cNvSpPr txBox="1"/>
          <p:nvPr/>
        </p:nvSpPr>
        <p:spPr>
          <a:xfrm>
            <a:off x="510234" y="2027437"/>
            <a:ext cx="4227600" cy="4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總加班分鐘數:</a:t>
            </a:r>
            <a:endParaRPr b="1"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調製、排瓶、充填分開統計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加班越少越好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不可行懲罰:</a:t>
            </a:r>
            <a:endParaRPr b="1"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若違反硬限制，直接給很大的 penalty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目標是先求可行，再談優化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其他目標偏離懲罰(以學姊的結果為參考):</a:t>
            </a:r>
            <a:endParaRPr b="1"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調製目標：2500 分鐘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充填目標：2585 分鐘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若超出目標，額外加懲罰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1" name="Google Shape;151;g3d4b4e5f2fc_1_66"/>
          <p:cNvSpPr/>
          <p:nvPr/>
        </p:nvSpPr>
        <p:spPr>
          <a:xfrm>
            <a:off x="6584200" y="1025400"/>
            <a:ext cx="4645200" cy="369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d4b4e5f2fc_1_66"/>
          <p:cNvSpPr/>
          <p:nvPr/>
        </p:nvSpPr>
        <p:spPr>
          <a:xfrm>
            <a:off x="6774389" y="1241133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Validation(已檢查)清單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53" name="Google Shape;153;g3d4b4e5f2fc_1_66"/>
          <p:cNvCxnSpPr/>
          <p:nvPr/>
        </p:nvCxnSpPr>
        <p:spPr>
          <a:xfrm>
            <a:off x="6697505" y="1783275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g3d4b4e5f2fc_1_66"/>
          <p:cNvSpPr txBox="1"/>
          <p:nvPr/>
        </p:nvSpPr>
        <p:spPr>
          <a:xfrm>
            <a:off x="6774384" y="1999012"/>
            <a:ext cx="4227600" cy="29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每張可排訂單是否真的有排進去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充填分鐘數是否與建模一致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排瓶工作量是否與建模一致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預攪是否真的在前一天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排瓶是否在充填前一天或允許的同天情境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1800"/>
              <a:buFont typeface="Microsoft JhengHei"/>
              <a:buChar char="●"/>
            </a:pPr>
            <a:r>
              <a:rPr lang="en-US" sz="18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是否提早於 ready date 或晚於 due date</a:t>
            </a:r>
            <a:endParaRPr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eader_gradient.png" id="160" name="Google Shape;160;g3dd59353df6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dd59353df6_0_71"/>
          <p:cNvSpPr/>
          <p:nvPr/>
        </p:nvSpPr>
        <p:spPr>
          <a:xfrm>
            <a:off x="0" y="0"/>
            <a:ext cx="109800" cy="777300"/>
          </a:xfrm>
          <a:prstGeom prst="rect">
            <a:avLst/>
          </a:prstGeom>
          <a:solidFill>
            <a:srgbClr val="56A9B8"/>
          </a:solidFill>
          <a:ln cap="flat" cmpd="sng" w="12700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dd59353df6_0_71"/>
          <p:cNvSpPr/>
          <p:nvPr/>
        </p:nvSpPr>
        <p:spPr>
          <a:xfrm>
            <a:off x="320040" y="164592"/>
            <a:ext cx="9875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目前使用的方法｜</a:t>
            </a:r>
            <a:r>
              <a:rPr b="1" lang="en-US" sz="24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本次Debug 與修正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3" name="Google Shape;163;g3dd59353df6_0_71"/>
          <p:cNvSpPr/>
          <p:nvPr/>
        </p:nvSpPr>
        <p:spPr>
          <a:xfrm>
            <a:off x="10561320" y="201168"/>
            <a:ext cx="1417200" cy="384000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d59353df6_0_71"/>
          <p:cNvSpPr/>
          <p:nvPr/>
        </p:nvSpPr>
        <p:spPr>
          <a:xfrm>
            <a:off x="10561320" y="237744"/>
            <a:ext cx="141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Method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65" name="Google Shape;165;g3dd59353df6_0_71"/>
          <p:cNvCxnSpPr/>
          <p:nvPr/>
        </p:nvCxnSpPr>
        <p:spPr>
          <a:xfrm>
            <a:off x="320040" y="6519672"/>
            <a:ext cx="11551500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g3dd59353df6_0_71"/>
          <p:cNvSpPr/>
          <p:nvPr/>
        </p:nvSpPr>
        <p:spPr>
          <a:xfrm>
            <a:off x="320040" y="6565392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霓淨思工廠訂單排程｜第</a:t>
            </a: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7" name="Google Shape;167;g3dd59353df6_0_71"/>
          <p:cNvSpPr/>
          <p:nvPr/>
        </p:nvSpPr>
        <p:spPr>
          <a:xfrm>
            <a:off x="10789920" y="6565392"/>
            <a:ext cx="107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/11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8" name="Google Shape;168;g3dd59353df6_0_71"/>
          <p:cNvSpPr/>
          <p:nvPr/>
        </p:nvSpPr>
        <p:spPr>
          <a:xfrm>
            <a:off x="320050" y="893150"/>
            <a:ext cx="4552200" cy="490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dd59353df6_0_71"/>
          <p:cNvSpPr/>
          <p:nvPr/>
        </p:nvSpPr>
        <p:spPr>
          <a:xfrm>
            <a:off x="510239" y="1108883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本次修正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70" name="Google Shape;170;g3dd59353df6_0_71"/>
          <p:cNvCxnSpPr/>
          <p:nvPr/>
        </p:nvCxnSpPr>
        <p:spPr>
          <a:xfrm>
            <a:off x="433355" y="1651025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g3dd59353df6_0_71"/>
          <p:cNvSpPr txBox="1"/>
          <p:nvPr/>
        </p:nvSpPr>
        <p:spPr>
          <a:xfrm>
            <a:off x="510259" y="1756812"/>
            <a:ext cx="4227600" cy="4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顯示問題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原本 reference format 曾把排瓶標準人數與實際人數混在一起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現在已</a:t>
            </a: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拆</a:t>
            </a: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成：標準配置人數與實際安排人數。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同日排瓶/充填顯示順序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修正 reference format 的 slot 顯示問題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避免出現「表上看起來先充填、後排瓶」的誤讀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總加班輸出口徑統一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schedule_summary.csv 與摘要都統一為整數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 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正式版執行資訊紀錄(確認模型執行時間)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新增 run_metadata.csv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可記錄開始時間、結束時間、總秒數、GA 參數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5. 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輸出可讀性</a:t>
            </a: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每次輸出自動帶時間戳記資料夾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自動產生欄位備註表，方便組員與業主核對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72" name="Google Shape;172;g3dd59353df6_0_71"/>
          <p:cNvPicPr preferRelativeResize="0"/>
          <p:nvPr/>
        </p:nvPicPr>
        <p:blipFill rotWithShape="1">
          <a:blip r:embed="rId4">
            <a:alphaModFix/>
          </a:blip>
          <a:srcRect b="45961" l="12051" r="37079" t="15498"/>
          <a:stretch/>
        </p:blipFill>
        <p:spPr>
          <a:xfrm>
            <a:off x="5861500" y="1025900"/>
            <a:ext cx="5302052" cy="238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dd59353df6_0_71"/>
          <p:cNvPicPr preferRelativeResize="0"/>
          <p:nvPr/>
        </p:nvPicPr>
        <p:blipFill rotWithShape="1">
          <a:blip r:embed="rId5">
            <a:alphaModFix/>
          </a:blip>
          <a:srcRect b="0" l="0" r="0" t="30094"/>
          <a:stretch/>
        </p:blipFill>
        <p:spPr>
          <a:xfrm>
            <a:off x="5794175" y="3594548"/>
            <a:ext cx="5302051" cy="287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eader_gradient.png" id="179" name="Google Shape;179;g3dd59353df6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dd59353df6_0_13"/>
          <p:cNvSpPr/>
          <p:nvPr/>
        </p:nvSpPr>
        <p:spPr>
          <a:xfrm>
            <a:off x="0" y="0"/>
            <a:ext cx="109800" cy="777300"/>
          </a:xfrm>
          <a:prstGeom prst="rect">
            <a:avLst/>
          </a:prstGeom>
          <a:solidFill>
            <a:srgbClr val="56A9B8"/>
          </a:solidFill>
          <a:ln cap="flat" cmpd="sng" w="12700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dd59353df6_0_13"/>
          <p:cNvSpPr/>
          <p:nvPr/>
        </p:nvSpPr>
        <p:spPr>
          <a:xfrm>
            <a:off x="320040" y="164592"/>
            <a:ext cx="9875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目前使用的方法｜</a:t>
            </a:r>
            <a:r>
              <a:rPr b="1" lang="en-US" sz="24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GA完整版輸出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2" name="Google Shape;182;g3dd59353df6_0_13"/>
          <p:cNvSpPr/>
          <p:nvPr/>
        </p:nvSpPr>
        <p:spPr>
          <a:xfrm>
            <a:off x="10561320" y="201168"/>
            <a:ext cx="1417200" cy="384000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dd59353df6_0_13"/>
          <p:cNvSpPr/>
          <p:nvPr/>
        </p:nvSpPr>
        <p:spPr>
          <a:xfrm>
            <a:off x="10561320" y="237744"/>
            <a:ext cx="141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Method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84" name="Google Shape;184;g3dd59353df6_0_13"/>
          <p:cNvCxnSpPr/>
          <p:nvPr/>
        </p:nvCxnSpPr>
        <p:spPr>
          <a:xfrm>
            <a:off x="320040" y="6519672"/>
            <a:ext cx="11551500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g3dd59353df6_0_13"/>
          <p:cNvSpPr/>
          <p:nvPr/>
        </p:nvSpPr>
        <p:spPr>
          <a:xfrm>
            <a:off x="320040" y="6565392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霓淨思工廠訂單排程｜第</a:t>
            </a: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6" name="Google Shape;186;g3dd59353df6_0_13"/>
          <p:cNvSpPr/>
          <p:nvPr/>
        </p:nvSpPr>
        <p:spPr>
          <a:xfrm>
            <a:off x="10789920" y="6565392"/>
            <a:ext cx="107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/11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87" name="Google Shape;187;g3dd59353df6_0_13"/>
          <p:cNvPicPr preferRelativeResize="0"/>
          <p:nvPr/>
        </p:nvPicPr>
        <p:blipFill rotWithShape="1">
          <a:blip r:embed="rId4">
            <a:alphaModFix/>
          </a:blip>
          <a:srcRect b="6795" l="-1002" r="11564" t="30284"/>
          <a:stretch/>
        </p:blipFill>
        <p:spPr>
          <a:xfrm>
            <a:off x="262200" y="1115875"/>
            <a:ext cx="11551498" cy="498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eader_gradient.png" id="193" name="Google Shape;193;g3dd59353df6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dd59353df6_0_47"/>
          <p:cNvSpPr/>
          <p:nvPr/>
        </p:nvSpPr>
        <p:spPr>
          <a:xfrm>
            <a:off x="0" y="0"/>
            <a:ext cx="109800" cy="777300"/>
          </a:xfrm>
          <a:prstGeom prst="rect">
            <a:avLst/>
          </a:prstGeom>
          <a:solidFill>
            <a:srgbClr val="56A9B8"/>
          </a:solidFill>
          <a:ln cap="flat" cmpd="sng" w="12700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dd59353df6_0_47"/>
          <p:cNvSpPr/>
          <p:nvPr/>
        </p:nvSpPr>
        <p:spPr>
          <a:xfrm>
            <a:off x="320040" y="164592"/>
            <a:ext cx="9875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目前使用的方法｜</a:t>
            </a:r>
            <a:r>
              <a:rPr b="1" lang="en-US" sz="2400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目前限制與改進方向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6" name="Google Shape;196;g3dd59353df6_0_47"/>
          <p:cNvSpPr/>
          <p:nvPr/>
        </p:nvSpPr>
        <p:spPr>
          <a:xfrm>
            <a:off x="10561320" y="201168"/>
            <a:ext cx="1417200" cy="384000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dd59353df6_0_47"/>
          <p:cNvSpPr/>
          <p:nvPr/>
        </p:nvSpPr>
        <p:spPr>
          <a:xfrm>
            <a:off x="10561320" y="237744"/>
            <a:ext cx="141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Method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98" name="Google Shape;198;g3dd59353df6_0_47"/>
          <p:cNvCxnSpPr/>
          <p:nvPr/>
        </p:nvCxnSpPr>
        <p:spPr>
          <a:xfrm>
            <a:off x="320040" y="6519672"/>
            <a:ext cx="11551500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g3dd59353df6_0_47"/>
          <p:cNvSpPr/>
          <p:nvPr/>
        </p:nvSpPr>
        <p:spPr>
          <a:xfrm>
            <a:off x="320040" y="6565392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霓淨思工廠訂單排程｜第</a:t>
            </a: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0" name="Google Shape;200;g3dd59353df6_0_47"/>
          <p:cNvSpPr/>
          <p:nvPr/>
        </p:nvSpPr>
        <p:spPr>
          <a:xfrm>
            <a:off x="10789920" y="6565392"/>
            <a:ext cx="107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/11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1" name="Google Shape;201;g3dd59353df6_0_47"/>
          <p:cNvSpPr/>
          <p:nvPr/>
        </p:nvSpPr>
        <p:spPr>
          <a:xfrm>
            <a:off x="320050" y="1053825"/>
            <a:ext cx="4966500" cy="538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dd59353df6_0_47"/>
          <p:cNvSpPr/>
          <p:nvPr/>
        </p:nvSpPr>
        <p:spPr>
          <a:xfrm>
            <a:off x="510239" y="1269558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模型侷限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03" name="Google Shape;203;g3dd59353df6_0_47"/>
          <p:cNvCxnSpPr/>
          <p:nvPr/>
        </p:nvCxnSpPr>
        <p:spPr>
          <a:xfrm>
            <a:off x="433355" y="1811700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g3dd59353df6_0_47"/>
          <p:cNvSpPr txBox="1"/>
          <p:nvPr/>
        </p:nvSpPr>
        <p:spPr>
          <a:xfrm>
            <a:off x="510259" y="1875237"/>
            <a:ext cx="4227600" cy="47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已經初步建立了機器清洗的工序，但未納入: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目前有 manufacturing_cleaning_audit.csv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也有清洗 penalty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但尚未完全把清洗當作硬工序直接塞入時間表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來源資料映射仍有歧義: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order_source_links.csv 仍顯示部分訂單不是唯一對應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代表某些建模參數仍有資料清理空間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加班集中在排瓶端: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目前排瓶是最主要瓶頸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後續可能要再優化人數配置與拆分策略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 無解訂單仍需分流: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有些訂單是資料本身有問題(絕對無法排進去)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這些會被 anomaly 標出來，但不代表模型把它們解決掉了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5" name="Google Shape;205;g3dd59353df6_0_47"/>
          <p:cNvSpPr/>
          <p:nvPr/>
        </p:nvSpPr>
        <p:spPr>
          <a:xfrm>
            <a:off x="6577800" y="1570725"/>
            <a:ext cx="4966500" cy="435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2"/>
              <a:buFont typeface="Arial"/>
              <a:buNone/>
            </a:pPr>
            <a:r>
              <a:t/>
            </a:r>
            <a:endParaRPr b="0" i="0" sz="13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dd59353df6_0_47"/>
          <p:cNvSpPr/>
          <p:nvPr/>
        </p:nvSpPr>
        <p:spPr>
          <a:xfrm>
            <a:off x="6767989" y="1786458"/>
            <a:ext cx="4227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A67"/>
              </a:buClr>
              <a:buSzPts val="1591"/>
              <a:buFont typeface="Microsoft JhengHei"/>
              <a:buNone/>
            </a:pPr>
            <a:r>
              <a:rPr b="1" lang="en-US" sz="1800">
                <a:solidFill>
                  <a:srgbClr val="1B7F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預計優化</a:t>
            </a:r>
            <a:endParaRPr b="0" i="0" sz="1800" u="none" cap="none" strike="noStrike">
              <a:solidFill>
                <a:srgbClr val="1B7FB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07" name="Google Shape;207;g3dd59353df6_0_47"/>
          <p:cNvCxnSpPr/>
          <p:nvPr/>
        </p:nvCxnSpPr>
        <p:spPr>
          <a:xfrm>
            <a:off x="6691105" y="2328600"/>
            <a:ext cx="4227600" cy="0"/>
          </a:xfrm>
          <a:prstGeom prst="straightConnector1">
            <a:avLst/>
          </a:prstGeom>
          <a:noFill/>
          <a:ln cap="flat" cmpd="sng" w="12625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g3dd59353df6_0_47"/>
          <p:cNvSpPr txBox="1"/>
          <p:nvPr/>
        </p:nvSpPr>
        <p:spPr>
          <a:xfrm>
            <a:off x="6768009" y="2392137"/>
            <a:ext cx="4227600" cy="3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50" lIns="90900" spcFirstLastPara="1" rIns="90900" wrap="square" tIns="45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把清洗從 penalty / audit 升級成更明確的硬限制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進一步改善排瓶瓶頸: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更細的人力配置規則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同批次合併處理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更貼近現場的排瓶安排方式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確認輸入與輸出形式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 強化應用能力:</a:t>
            </a:r>
            <a:endParaRPr b="1"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增加自動化接口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增加更容易檢查合理性的輸出表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提供可匯入google日歷/記事本的選項</a:t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26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9" name="Google Shape;209;g3dd59353df6_0_47"/>
          <p:cNvSpPr/>
          <p:nvPr/>
        </p:nvSpPr>
        <p:spPr>
          <a:xfrm>
            <a:off x="5500925" y="3393650"/>
            <a:ext cx="862500" cy="77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eader_gradient.png" id="215" name="Google Shape;2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4041"/>
            <a:ext cx="12191695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56A9B8"/>
          </a:solidFill>
          <a:ln cap="flat" cmpd="sng" w="12700">
            <a:solidFill>
              <a:srgbClr val="56A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320040" y="1645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25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2526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專案時程規劃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0561320" y="201168"/>
            <a:ext cx="1417320" cy="384048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10561320" y="237744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Plan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20" name="Google Shape;220;p14"/>
          <p:cNvCxnSpPr/>
          <p:nvPr/>
        </p:nvCxnSpPr>
        <p:spPr>
          <a:xfrm>
            <a:off x="320040" y="6519672"/>
            <a:ext cx="11551615" cy="0"/>
          </a:xfrm>
          <a:prstGeom prst="straightConnector1">
            <a:avLst/>
          </a:prstGeom>
          <a:noFill/>
          <a:ln cap="flat" cmpd="sng" w="12700">
            <a:solidFill>
              <a:srgbClr val="E6E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4"/>
          <p:cNvSpPr/>
          <p:nvPr/>
        </p:nvSpPr>
        <p:spPr>
          <a:xfrm>
            <a:off x="320040" y="65653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霓淨思工廠訂單排程｜第</a:t>
            </a:r>
            <a:r>
              <a:rPr lang="en-US" sz="1000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次進度報告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10789920" y="656539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10/11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23" name="Google Shape;223;p14"/>
          <p:cNvCxnSpPr/>
          <p:nvPr/>
        </p:nvCxnSpPr>
        <p:spPr>
          <a:xfrm flipH="1" rot="10800000">
            <a:off x="2662493" y="1358193"/>
            <a:ext cx="3300" cy="4708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4" name="Google Shape;224;p14"/>
          <p:cNvCxnSpPr/>
          <p:nvPr/>
        </p:nvCxnSpPr>
        <p:spPr>
          <a:xfrm flipH="1" rot="10800000">
            <a:off x="4522685" y="1358195"/>
            <a:ext cx="3300" cy="4708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25" name="Google Shape;225;p14"/>
          <p:cNvGrpSpPr/>
          <p:nvPr/>
        </p:nvGrpSpPr>
        <p:grpSpPr>
          <a:xfrm>
            <a:off x="802176" y="1603276"/>
            <a:ext cx="862441" cy="396509"/>
            <a:chOff x="0" y="0"/>
            <a:chExt cx="1628691" cy="853407"/>
          </a:xfrm>
        </p:grpSpPr>
        <p:sp>
          <p:nvSpPr>
            <p:cNvPr id="226" name="Google Shape;226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27" name="Google Shape;227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3/24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14"/>
          <p:cNvSpPr/>
          <p:nvPr/>
        </p:nvSpPr>
        <p:spPr>
          <a:xfrm>
            <a:off x="802176" y="2093104"/>
            <a:ext cx="856049" cy="529689"/>
          </a:xfrm>
          <a:custGeom>
            <a:rect b="b" l="l" r="r" t="t"/>
            <a:pathLst>
              <a:path extrusionOk="0" h="1140048" w="1616618">
                <a:moveTo>
                  <a:pt x="0" y="190025"/>
                </a:moveTo>
                <a:cubicBezTo>
                  <a:pt x="0" y="85029"/>
                  <a:pt x="31588" y="0"/>
                  <a:pt x="70593" y="0"/>
                </a:cubicBezTo>
                <a:lnTo>
                  <a:pt x="1545937" y="0"/>
                </a:lnTo>
                <a:cubicBezTo>
                  <a:pt x="1584914" y="0"/>
                  <a:pt x="1616618" y="85029"/>
                  <a:pt x="1616618" y="190025"/>
                </a:cubicBezTo>
                <a:lnTo>
                  <a:pt x="1616618" y="949973"/>
                </a:lnTo>
                <a:cubicBezTo>
                  <a:pt x="1616618" y="1054892"/>
                  <a:pt x="1584942" y="1140048"/>
                  <a:pt x="1545937" y="1140048"/>
                </a:cubicBezTo>
                <a:lnTo>
                  <a:pt x="70593" y="1140048"/>
                </a:lnTo>
                <a:cubicBezTo>
                  <a:pt x="31588" y="1139922"/>
                  <a:pt x="0" y="1054892"/>
                  <a:pt x="0" y="949897"/>
                </a:cubicBezTo>
                <a:close/>
              </a:path>
            </a:pathLst>
          </a:custGeom>
          <a:solidFill>
            <a:srgbClr val="E1DFDF">
              <a:alpha val="35686"/>
            </a:srgbClr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802176" y="2079827"/>
            <a:ext cx="855989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確認專案</a:t>
            </a:r>
            <a:endParaRPr b="0" i="0" sz="11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目標及方向</a:t>
            </a:r>
            <a:endParaRPr b="0" i="0" sz="11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230" name="Google Shape;230;p14"/>
          <p:cNvGrpSpPr/>
          <p:nvPr/>
        </p:nvGrpSpPr>
        <p:grpSpPr>
          <a:xfrm>
            <a:off x="266547" y="2093104"/>
            <a:ext cx="369576" cy="2748880"/>
            <a:chOff x="0" y="0"/>
            <a:chExt cx="697933" cy="5916418"/>
          </a:xfrm>
        </p:grpSpPr>
        <p:sp>
          <p:nvSpPr>
            <p:cNvPr id="231" name="Google Shape;231;p14"/>
            <p:cNvSpPr/>
            <p:nvPr/>
          </p:nvSpPr>
          <p:spPr>
            <a:xfrm>
              <a:off x="0" y="0"/>
              <a:ext cx="697933" cy="5916418"/>
            </a:xfrm>
            <a:custGeom>
              <a:rect b="b" l="l" r="r" t="t"/>
              <a:pathLst>
                <a:path extrusionOk="0" h="5916418" w="697933">
                  <a:moveTo>
                    <a:pt x="0" y="986302"/>
                  </a:moveTo>
                  <a:cubicBezTo>
                    <a:pt x="0" y="441310"/>
                    <a:pt x="12430" y="0"/>
                    <a:pt x="27780" y="0"/>
                  </a:cubicBezTo>
                  <a:lnTo>
                    <a:pt x="670115" y="0"/>
                  </a:lnTo>
                  <a:cubicBezTo>
                    <a:pt x="685451" y="0"/>
                    <a:pt x="697933" y="441310"/>
                    <a:pt x="697933" y="986302"/>
                  </a:cubicBezTo>
                  <a:lnTo>
                    <a:pt x="697933" y="4930447"/>
                  </a:lnTo>
                  <a:cubicBezTo>
                    <a:pt x="697933" y="5474907"/>
                    <a:pt x="685466" y="5916418"/>
                    <a:pt x="670115" y="5916418"/>
                  </a:cubicBezTo>
                  <a:lnTo>
                    <a:pt x="27780" y="5916418"/>
                  </a:lnTo>
                  <a:cubicBezTo>
                    <a:pt x="12430" y="5916217"/>
                    <a:pt x="0" y="5474907"/>
                    <a:pt x="0" y="4930447"/>
                  </a:cubicBezTo>
                  <a:close/>
                </a:path>
              </a:pathLst>
            </a:custGeom>
            <a:solidFill>
              <a:srgbClr val="E7F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4"/>
            <p:cNvSpPr txBox="1"/>
            <p:nvPr/>
          </p:nvSpPr>
          <p:spPr>
            <a:xfrm>
              <a:off x="0" y="0"/>
              <a:ext cx="697891" cy="59163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團隊執行階段</a:t>
              </a:r>
              <a:endParaRPr b="1" i="0" sz="1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233" name="Google Shape;233;p14"/>
          <p:cNvGrpSpPr/>
          <p:nvPr/>
        </p:nvGrpSpPr>
        <p:grpSpPr>
          <a:xfrm>
            <a:off x="266550" y="4911225"/>
            <a:ext cx="369556" cy="1155785"/>
            <a:chOff x="0" y="0"/>
            <a:chExt cx="697933" cy="2018134"/>
          </a:xfrm>
        </p:grpSpPr>
        <p:sp>
          <p:nvSpPr>
            <p:cNvPr id="234" name="Google Shape;234;p14"/>
            <p:cNvSpPr/>
            <p:nvPr/>
          </p:nvSpPr>
          <p:spPr>
            <a:xfrm>
              <a:off x="0" y="0"/>
              <a:ext cx="697933" cy="2018134"/>
            </a:xfrm>
            <a:custGeom>
              <a:rect b="b" l="l" r="r" t="t"/>
              <a:pathLst>
                <a:path extrusionOk="0" h="2018134" w="697933">
                  <a:moveTo>
                    <a:pt x="0" y="336424"/>
                  </a:moveTo>
                  <a:cubicBezTo>
                    <a:pt x="0" y="150529"/>
                    <a:pt x="12430" y="0"/>
                    <a:pt x="27780" y="0"/>
                  </a:cubicBezTo>
                  <a:lnTo>
                    <a:pt x="670115" y="0"/>
                  </a:lnTo>
                  <a:cubicBezTo>
                    <a:pt x="685451" y="0"/>
                    <a:pt x="697933" y="150529"/>
                    <a:pt x="697933" y="336424"/>
                  </a:cubicBezTo>
                  <a:lnTo>
                    <a:pt x="697933" y="1681755"/>
                  </a:lnTo>
                  <a:cubicBezTo>
                    <a:pt x="697933" y="1867468"/>
                    <a:pt x="685466" y="2018134"/>
                    <a:pt x="670115" y="2018134"/>
                  </a:cubicBezTo>
                  <a:lnTo>
                    <a:pt x="27780" y="2018134"/>
                  </a:lnTo>
                  <a:cubicBezTo>
                    <a:pt x="12430" y="2017997"/>
                    <a:pt x="0" y="1867468"/>
                    <a:pt x="0" y="1681755"/>
                  </a:cubicBezTo>
                  <a:close/>
                </a:path>
              </a:pathLst>
            </a:custGeom>
            <a:solidFill>
              <a:srgbClr val="C2E3EE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35" name="Google Shape;235;p14"/>
            <p:cNvSpPr txBox="1"/>
            <p:nvPr/>
          </p:nvSpPr>
          <p:spPr>
            <a:xfrm>
              <a:off x="0" y="0"/>
              <a:ext cx="697891" cy="2018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業主協助</a:t>
              </a:r>
              <a:endParaRPr b="1" i="0" sz="1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236" name="Google Shape;236;p14"/>
          <p:cNvGrpSpPr/>
          <p:nvPr/>
        </p:nvGrpSpPr>
        <p:grpSpPr>
          <a:xfrm>
            <a:off x="1732139" y="1603276"/>
            <a:ext cx="862441" cy="396509"/>
            <a:chOff x="0" y="0"/>
            <a:chExt cx="1628691" cy="853407"/>
          </a:xfrm>
        </p:grpSpPr>
        <p:sp>
          <p:nvSpPr>
            <p:cNvPr id="237" name="Google Shape;237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38" name="Google Shape;238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3/31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14"/>
          <p:cNvGrpSpPr/>
          <p:nvPr/>
        </p:nvGrpSpPr>
        <p:grpSpPr>
          <a:xfrm>
            <a:off x="2665851" y="1603276"/>
            <a:ext cx="862441" cy="396509"/>
            <a:chOff x="0" y="0"/>
            <a:chExt cx="1628691" cy="853407"/>
          </a:xfrm>
        </p:grpSpPr>
        <p:sp>
          <p:nvSpPr>
            <p:cNvPr id="240" name="Google Shape;240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41" name="Google Shape;241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4/7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14"/>
          <p:cNvGrpSpPr/>
          <p:nvPr/>
        </p:nvGrpSpPr>
        <p:grpSpPr>
          <a:xfrm>
            <a:off x="3598323" y="1603276"/>
            <a:ext cx="862441" cy="396509"/>
            <a:chOff x="0" y="0"/>
            <a:chExt cx="1628691" cy="853407"/>
          </a:xfrm>
        </p:grpSpPr>
        <p:sp>
          <p:nvSpPr>
            <p:cNvPr id="243" name="Google Shape;243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44" name="Google Shape;244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4/14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" name="Google Shape;245;p14"/>
          <p:cNvGrpSpPr/>
          <p:nvPr/>
        </p:nvGrpSpPr>
        <p:grpSpPr>
          <a:xfrm>
            <a:off x="4530795" y="1603276"/>
            <a:ext cx="862441" cy="396509"/>
            <a:chOff x="0" y="0"/>
            <a:chExt cx="1628691" cy="853407"/>
          </a:xfrm>
        </p:grpSpPr>
        <p:sp>
          <p:nvSpPr>
            <p:cNvPr id="246" name="Google Shape;246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47" name="Google Shape;247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4/21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" name="Google Shape;248;p14"/>
          <p:cNvGrpSpPr/>
          <p:nvPr/>
        </p:nvGrpSpPr>
        <p:grpSpPr>
          <a:xfrm>
            <a:off x="5464507" y="1603276"/>
            <a:ext cx="862441" cy="396509"/>
            <a:chOff x="0" y="0"/>
            <a:chExt cx="1628691" cy="853407"/>
          </a:xfrm>
        </p:grpSpPr>
        <p:sp>
          <p:nvSpPr>
            <p:cNvPr id="249" name="Google Shape;249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50" name="Google Shape;250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4/28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14"/>
          <p:cNvGrpSpPr/>
          <p:nvPr/>
        </p:nvGrpSpPr>
        <p:grpSpPr>
          <a:xfrm>
            <a:off x="6400374" y="1603276"/>
            <a:ext cx="862441" cy="396509"/>
            <a:chOff x="0" y="0"/>
            <a:chExt cx="1628691" cy="853407"/>
          </a:xfrm>
        </p:grpSpPr>
        <p:sp>
          <p:nvSpPr>
            <p:cNvPr id="252" name="Google Shape;252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53" name="Google Shape;253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5/5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14"/>
          <p:cNvGrpSpPr/>
          <p:nvPr/>
        </p:nvGrpSpPr>
        <p:grpSpPr>
          <a:xfrm>
            <a:off x="7330338" y="1603276"/>
            <a:ext cx="862441" cy="396509"/>
            <a:chOff x="0" y="0"/>
            <a:chExt cx="1628691" cy="853407"/>
          </a:xfrm>
        </p:grpSpPr>
        <p:sp>
          <p:nvSpPr>
            <p:cNvPr id="255" name="Google Shape;255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56" name="Google Shape;256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5/12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14"/>
          <p:cNvGrpSpPr/>
          <p:nvPr/>
        </p:nvGrpSpPr>
        <p:grpSpPr>
          <a:xfrm>
            <a:off x="8264050" y="1603276"/>
            <a:ext cx="862441" cy="396509"/>
            <a:chOff x="0" y="0"/>
            <a:chExt cx="1628691" cy="853407"/>
          </a:xfrm>
        </p:grpSpPr>
        <p:sp>
          <p:nvSpPr>
            <p:cNvPr id="258" name="Google Shape;258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59" name="Google Shape;259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5/19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4"/>
          <p:cNvGrpSpPr/>
          <p:nvPr/>
        </p:nvGrpSpPr>
        <p:grpSpPr>
          <a:xfrm>
            <a:off x="9196522" y="1603276"/>
            <a:ext cx="862441" cy="396509"/>
            <a:chOff x="0" y="0"/>
            <a:chExt cx="1628691" cy="853407"/>
          </a:xfrm>
        </p:grpSpPr>
        <p:sp>
          <p:nvSpPr>
            <p:cNvPr id="261" name="Google Shape;261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62" name="Google Shape;262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5/26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14"/>
          <p:cNvGrpSpPr/>
          <p:nvPr/>
        </p:nvGrpSpPr>
        <p:grpSpPr>
          <a:xfrm>
            <a:off x="10128994" y="1603276"/>
            <a:ext cx="862441" cy="396509"/>
            <a:chOff x="0" y="0"/>
            <a:chExt cx="1628691" cy="853407"/>
          </a:xfrm>
        </p:grpSpPr>
        <p:sp>
          <p:nvSpPr>
            <p:cNvPr id="264" name="Google Shape;264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65" name="Google Shape;265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6/2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11062706" y="1603276"/>
            <a:ext cx="862441" cy="396509"/>
            <a:chOff x="0" y="0"/>
            <a:chExt cx="1628691" cy="853407"/>
          </a:xfrm>
        </p:grpSpPr>
        <p:sp>
          <p:nvSpPr>
            <p:cNvPr id="267" name="Google Shape;267;p14"/>
            <p:cNvSpPr/>
            <p:nvPr/>
          </p:nvSpPr>
          <p:spPr>
            <a:xfrm>
              <a:off x="0" y="0"/>
              <a:ext cx="1628685" cy="853407"/>
            </a:xfrm>
            <a:custGeom>
              <a:rect b="b" l="l" r="r" t="t"/>
              <a:pathLst>
                <a:path extrusionOk="0" h="853407" w="1628685">
                  <a:moveTo>
                    <a:pt x="0" y="0"/>
                  </a:moveTo>
                  <a:lnTo>
                    <a:pt x="1628685" y="0"/>
                  </a:lnTo>
                  <a:lnTo>
                    <a:pt x="1628685" y="853407"/>
                  </a:lnTo>
                  <a:lnTo>
                    <a:pt x="0" y="853407"/>
                  </a:lnTo>
                  <a:close/>
                </a:path>
              </a:pathLst>
            </a:custGeom>
            <a:solidFill>
              <a:srgbClr val="57A9B8"/>
            </a:solidFill>
            <a:ln>
              <a:noFill/>
            </a:ln>
          </p:spPr>
        </p:sp>
        <p:sp>
          <p:nvSpPr>
            <p:cNvPr id="268" name="Google Shape;268;p14"/>
            <p:cNvSpPr txBox="1"/>
            <p:nvPr/>
          </p:nvSpPr>
          <p:spPr>
            <a:xfrm>
              <a:off x="0" y="0"/>
              <a:ext cx="1628691" cy="853345"/>
            </a:xfrm>
            <a:prstGeom prst="rect">
              <a:avLst/>
            </a:prstGeom>
            <a:solidFill>
              <a:srgbClr val="57A9B8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6/9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9" name="Google Shape;269;p14"/>
          <p:cNvSpPr/>
          <p:nvPr/>
        </p:nvSpPr>
        <p:spPr>
          <a:xfrm>
            <a:off x="1732139" y="2682008"/>
            <a:ext cx="2728685" cy="529689"/>
          </a:xfrm>
          <a:custGeom>
            <a:rect b="b" l="l" r="r" t="t"/>
            <a:pathLst>
              <a:path extrusionOk="0" h="1140048" w="5153028">
                <a:moveTo>
                  <a:pt x="0" y="190025"/>
                </a:moveTo>
                <a:cubicBezTo>
                  <a:pt x="0" y="85029"/>
                  <a:pt x="100692" y="0"/>
                  <a:pt x="225028" y="0"/>
                </a:cubicBezTo>
                <a:lnTo>
                  <a:pt x="4927967" y="0"/>
                </a:lnTo>
                <a:cubicBezTo>
                  <a:pt x="5052213" y="0"/>
                  <a:pt x="5153028" y="85029"/>
                  <a:pt x="5153028" y="190025"/>
                </a:cubicBezTo>
                <a:lnTo>
                  <a:pt x="5153028" y="949973"/>
                </a:lnTo>
                <a:cubicBezTo>
                  <a:pt x="5153028" y="1054892"/>
                  <a:pt x="5052303" y="1140048"/>
                  <a:pt x="4927967" y="1140048"/>
                </a:cubicBezTo>
                <a:lnTo>
                  <a:pt x="225028" y="1140048"/>
                </a:lnTo>
                <a:cubicBezTo>
                  <a:pt x="100692" y="1139922"/>
                  <a:pt x="0" y="1054892"/>
                  <a:pt x="0" y="949897"/>
                </a:cubicBezTo>
                <a:close/>
              </a:path>
            </a:pathLst>
          </a:custGeom>
          <a:solidFill>
            <a:srgbClr val="E1DFDF">
              <a:alpha val="3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1732139" y="2668731"/>
            <a:ext cx="2728625" cy="542907"/>
          </a:xfrm>
          <a:prstGeom prst="rect">
            <a:avLst/>
          </a:prstGeom>
          <a:solidFill>
            <a:srgbClr val="F9CECE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172721" lvl="1" marL="34544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清理並分析現有的訂單數據資料</a:t>
            </a:r>
            <a:endParaRPr b="0" i="0" sz="11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2721" lvl="1" marL="34544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研究線性規劃工具與排程演算法</a:t>
            </a:r>
            <a:endParaRPr b="0" i="0" sz="11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3598323" y="3270912"/>
            <a:ext cx="4594516" cy="529689"/>
          </a:xfrm>
          <a:custGeom>
            <a:rect b="b" l="l" r="r" t="t"/>
            <a:pathLst>
              <a:path extrusionOk="0" h="1140048" w="8676585">
                <a:moveTo>
                  <a:pt x="0" y="190025"/>
                </a:moveTo>
                <a:cubicBezTo>
                  <a:pt x="0" y="85029"/>
                  <a:pt x="169545" y="0"/>
                  <a:pt x="378902" y="0"/>
                </a:cubicBezTo>
                <a:lnTo>
                  <a:pt x="8297704" y="0"/>
                </a:lnTo>
                <a:cubicBezTo>
                  <a:pt x="8506911" y="0"/>
                  <a:pt x="8676585" y="85029"/>
                  <a:pt x="8676585" y="190025"/>
                </a:cubicBezTo>
                <a:lnTo>
                  <a:pt x="8676585" y="949973"/>
                </a:lnTo>
                <a:cubicBezTo>
                  <a:pt x="8676585" y="1054892"/>
                  <a:pt x="8507062" y="1140048"/>
                  <a:pt x="8297704" y="1140048"/>
                </a:cubicBezTo>
                <a:lnTo>
                  <a:pt x="378902" y="1140048"/>
                </a:lnTo>
                <a:cubicBezTo>
                  <a:pt x="169545" y="1139922"/>
                  <a:pt x="0" y="1054892"/>
                  <a:pt x="0" y="949897"/>
                </a:cubicBezTo>
                <a:close/>
              </a:path>
            </a:pathLst>
          </a:custGeom>
          <a:solidFill>
            <a:srgbClr val="E1DFDF">
              <a:alpha val="35686"/>
            </a:srgbClr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3598323" y="3257635"/>
            <a:ext cx="4594456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172721" lvl="1" marL="34544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收斂限制式並驗證關鍵假說</a:t>
            </a:r>
            <a:endParaRPr b="0" i="0" sz="11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2721" lvl="1" marL="34544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建立訂單排程模型並比較</a:t>
            </a:r>
            <a:endParaRPr b="0" i="0" sz="11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7330338" y="3859816"/>
            <a:ext cx="1790129" cy="300869"/>
          </a:xfrm>
          <a:custGeom>
            <a:rect b="b" l="l" r="r" t="t"/>
            <a:pathLst>
              <a:path extrusionOk="0" h="647559" w="3380597">
                <a:moveTo>
                  <a:pt x="0" y="107927"/>
                </a:moveTo>
                <a:cubicBezTo>
                  <a:pt x="0" y="48293"/>
                  <a:pt x="66057" y="0"/>
                  <a:pt x="147626" y="0"/>
                </a:cubicBezTo>
                <a:lnTo>
                  <a:pt x="3232910" y="0"/>
                </a:lnTo>
                <a:cubicBezTo>
                  <a:pt x="3314420" y="0"/>
                  <a:pt x="3380597" y="48293"/>
                  <a:pt x="3380597" y="107927"/>
                </a:cubicBezTo>
                <a:lnTo>
                  <a:pt x="3380597" y="539549"/>
                </a:lnTo>
                <a:cubicBezTo>
                  <a:pt x="3380597" y="599139"/>
                  <a:pt x="3314479" y="647559"/>
                  <a:pt x="3232910" y="647559"/>
                </a:cubicBezTo>
                <a:lnTo>
                  <a:pt x="147626" y="647559"/>
                </a:lnTo>
                <a:cubicBezTo>
                  <a:pt x="66057" y="647432"/>
                  <a:pt x="0" y="599139"/>
                  <a:pt x="0" y="539505"/>
                </a:cubicBezTo>
                <a:close/>
              </a:path>
            </a:pathLst>
          </a:custGeom>
          <a:solidFill>
            <a:srgbClr val="E1DFDF">
              <a:alpha val="35686"/>
            </a:srgbClr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7330338" y="3846539"/>
            <a:ext cx="1790069" cy="314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7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驗證方法論或模型的效果</a:t>
            </a:r>
            <a:endParaRPr b="0" i="0" sz="11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8285529" y="4220558"/>
            <a:ext cx="1790129" cy="300869"/>
          </a:xfrm>
          <a:custGeom>
            <a:rect b="b" l="l" r="r" t="t"/>
            <a:pathLst>
              <a:path extrusionOk="0" h="647559" w="3380597">
                <a:moveTo>
                  <a:pt x="0" y="107927"/>
                </a:moveTo>
                <a:cubicBezTo>
                  <a:pt x="0" y="48293"/>
                  <a:pt x="66057" y="0"/>
                  <a:pt x="147626" y="0"/>
                </a:cubicBezTo>
                <a:lnTo>
                  <a:pt x="3232910" y="0"/>
                </a:lnTo>
                <a:cubicBezTo>
                  <a:pt x="3314420" y="0"/>
                  <a:pt x="3380597" y="48293"/>
                  <a:pt x="3380597" y="107927"/>
                </a:cubicBezTo>
                <a:lnTo>
                  <a:pt x="3380597" y="539549"/>
                </a:lnTo>
                <a:cubicBezTo>
                  <a:pt x="3380597" y="599139"/>
                  <a:pt x="3314479" y="647559"/>
                  <a:pt x="3232910" y="647559"/>
                </a:cubicBezTo>
                <a:lnTo>
                  <a:pt x="147626" y="647559"/>
                </a:lnTo>
                <a:cubicBezTo>
                  <a:pt x="66057" y="647432"/>
                  <a:pt x="0" y="599139"/>
                  <a:pt x="0" y="539505"/>
                </a:cubicBezTo>
                <a:close/>
              </a:path>
            </a:pathLst>
          </a:custGeom>
          <a:solidFill>
            <a:srgbClr val="E1DFDF">
              <a:alpha val="35686"/>
            </a:srgbClr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8285529" y="4207281"/>
            <a:ext cx="1790069" cy="314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7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加入其他實際情境討論</a:t>
            </a:r>
            <a:endParaRPr b="0" i="0" sz="11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10135078" y="4541126"/>
            <a:ext cx="1790129" cy="300869"/>
          </a:xfrm>
          <a:custGeom>
            <a:rect b="b" l="l" r="r" t="t"/>
            <a:pathLst>
              <a:path extrusionOk="0" h="647559" w="3380597">
                <a:moveTo>
                  <a:pt x="0" y="107927"/>
                </a:moveTo>
                <a:cubicBezTo>
                  <a:pt x="0" y="48293"/>
                  <a:pt x="66057" y="0"/>
                  <a:pt x="147626" y="0"/>
                </a:cubicBezTo>
                <a:lnTo>
                  <a:pt x="3232910" y="0"/>
                </a:lnTo>
                <a:cubicBezTo>
                  <a:pt x="3314420" y="0"/>
                  <a:pt x="3380597" y="48293"/>
                  <a:pt x="3380597" y="107927"/>
                </a:cubicBezTo>
                <a:lnTo>
                  <a:pt x="3380597" y="539549"/>
                </a:lnTo>
                <a:cubicBezTo>
                  <a:pt x="3380597" y="599139"/>
                  <a:pt x="3314479" y="647559"/>
                  <a:pt x="3232910" y="647559"/>
                </a:cubicBezTo>
                <a:lnTo>
                  <a:pt x="147626" y="647559"/>
                </a:lnTo>
                <a:cubicBezTo>
                  <a:pt x="66057" y="647432"/>
                  <a:pt x="0" y="599139"/>
                  <a:pt x="0" y="539505"/>
                </a:cubicBezTo>
                <a:close/>
              </a:path>
            </a:pathLst>
          </a:custGeom>
          <a:solidFill>
            <a:srgbClr val="E1DFDF">
              <a:alpha val="3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10135078" y="4527849"/>
            <a:ext cx="1790069" cy="31408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7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整理管理意涵與簡報線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14"/>
          <p:cNvGrpSpPr/>
          <p:nvPr/>
        </p:nvGrpSpPr>
        <p:grpSpPr>
          <a:xfrm>
            <a:off x="802176" y="4897940"/>
            <a:ext cx="3658649" cy="283019"/>
            <a:chOff x="0" y="-28575"/>
            <a:chExt cx="6909233" cy="609143"/>
          </a:xfrm>
        </p:grpSpPr>
        <p:sp>
          <p:nvSpPr>
            <p:cNvPr id="280" name="Google Shape;280;p14"/>
            <p:cNvSpPr/>
            <p:nvPr/>
          </p:nvSpPr>
          <p:spPr>
            <a:xfrm>
              <a:off x="0" y="0"/>
              <a:ext cx="6909233" cy="580568"/>
            </a:xfrm>
            <a:custGeom>
              <a:rect b="b" l="l" r="r" t="t"/>
              <a:pathLst>
                <a:path extrusionOk="0" h="580568" w="6909233">
                  <a:moveTo>
                    <a:pt x="0" y="96760"/>
                  </a:moveTo>
                  <a:cubicBezTo>
                    <a:pt x="0" y="43296"/>
                    <a:pt x="135009" y="0"/>
                    <a:pt x="301722" y="0"/>
                  </a:cubicBezTo>
                  <a:lnTo>
                    <a:pt x="6607505" y="0"/>
                  </a:lnTo>
                  <a:cubicBezTo>
                    <a:pt x="6774097" y="0"/>
                    <a:pt x="6909233" y="43296"/>
                    <a:pt x="6909233" y="96760"/>
                  </a:cubicBezTo>
                  <a:lnTo>
                    <a:pt x="6909233" y="483720"/>
                  </a:lnTo>
                  <a:cubicBezTo>
                    <a:pt x="6909233" y="537145"/>
                    <a:pt x="6774218" y="580568"/>
                    <a:pt x="6607505" y="580568"/>
                  </a:cubicBezTo>
                  <a:lnTo>
                    <a:pt x="301722" y="580568"/>
                  </a:lnTo>
                  <a:cubicBezTo>
                    <a:pt x="135009" y="580441"/>
                    <a:pt x="0" y="537145"/>
                    <a:pt x="0" y="483682"/>
                  </a:cubicBezTo>
                  <a:close/>
                </a:path>
              </a:pathLst>
            </a:custGeom>
            <a:solidFill>
              <a:srgbClr val="B2B1B1">
                <a:alpha val="3568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4"/>
            <p:cNvSpPr txBox="1"/>
            <p:nvPr/>
          </p:nvSpPr>
          <p:spPr>
            <a:xfrm>
              <a:off x="0" y="-28575"/>
              <a:ext cx="6909119" cy="60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45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討論資料問題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14"/>
          <p:cNvGrpSpPr/>
          <p:nvPr/>
        </p:nvGrpSpPr>
        <p:grpSpPr>
          <a:xfrm>
            <a:off x="3598323" y="5218686"/>
            <a:ext cx="4594516" cy="283019"/>
            <a:chOff x="0" y="-28575"/>
            <a:chExt cx="8676585" cy="609143"/>
          </a:xfrm>
        </p:grpSpPr>
        <p:sp>
          <p:nvSpPr>
            <p:cNvPr id="283" name="Google Shape;283;p14"/>
            <p:cNvSpPr/>
            <p:nvPr/>
          </p:nvSpPr>
          <p:spPr>
            <a:xfrm>
              <a:off x="0" y="0"/>
              <a:ext cx="8676585" cy="580568"/>
            </a:xfrm>
            <a:custGeom>
              <a:rect b="b" l="l" r="r" t="t"/>
              <a:pathLst>
                <a:path extrusionOk="0" h="580568" w="8676585">
                  <a:moveTo>
                    <a:pt x="0" y="96760"/>
                  </a:moveTo>
                  <a:cubicBezTo>
                    <a:pt x="0" y="43296"/>
                    <a:pt x="169545" y="0"/>
                    <a:pt x="378902" y="0"/>
                  </a:cubicBezTo>
                  <a:lnTo>
                    <a:pt x="8297704" y="0"/>
                  </a:lnTo>
                  <a:cubicBezTo>
                    <a:pt x="8506911" y="0"/>
                    <a:pt x="8676585" y="43296"/>
                    <a:pt x="8676585" y="96760"/>
                  </a:cubicBezTo>
                  <a:lnTo>
                    <a:pt x="8676585" y="483720"/>
                  </a:lnTo>
                  <a:cubicBezTo>
                    <a:pt x="8676585" y="537145"/>
                    <a:pt x="8507062" y="580568"/>
                    <a:pt x="8297704" y="580568"/>
                  </a:cubicBezTo>
                  <a:lnTo>
                    <a:pt x="378902" y="580568"/>
                  </a:lnTo>
                  <a:cubicBezTo>
                    <a:pt x="169545" y="580441"/>
                    <a:pt x="0" y="537145"/>
                    <a:pt x="0" y="483682"/>
                  </a:cubicBezTo>
                  <a:close/>
                </a:path>
              </a:pathLst>
            </a:custGeom>
            <a:solidFill>
              <a:srgbClr val="B2B1B1">
                <a:alpha val="3568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4"/>
            <p:cNvSpPr txBox="1"/>
            <p:nvPr/>
          </p:nvSpPr>
          <p:spPr>
            <a:xfrm>
              <a:off x="0" y="-28575"/>
              <a:ext cx="8676472" cy="60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45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協助確認最終限制式與關鍵假說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14"/>
          <p:cNvGrpSpPr/>
          <p:nvPr/>
        </p:nvGrpSpPr>
        <p:grpSpPr>
          <a:xfrm>
            <a:off x="7330338" y="5535738"/>
            <a:ext cx="2728685" cy="283019"/>
            <a:chOff x="0" y="-28575"/>
            <a:chExt cx="5153028" cy="609143"/>
          </a:xfrm>
        </p:grpSpPr>
        <p:sp>
          <p:nvSpPr>
            <p:cNvPr id="286" name="Google Shape;286;p14"/>
            <p:cNvSpPr/>
            <p:nvPr/>
          </p:nvSpPr>
          <p:spPr>
            <a:xfrm>
              <a:off x="0" y="0"/>
              <a:ext cx="5153028" cy="580568"/>
            </a:xfrm>
            <a:custGeom>
              <a:rect b="b" l="l" r="r" t="t"/>
              <a:pathLst>
                <a:path extrusionOk="0" h="580568" w="5153028">
                  <a:moveTo>
                    <a:pt x="0" y="96760"/>
                  </a:moveTo>
                  <a:cubicBezTo>
                    <a:pt x="0" y="43296"/>
                    <a:pt x="100692" y="0"/>
                    <a:pt x="225028" y="0"/>
                  </a:cubicBezTo>
                  <a:lnTo>
                    <a:pt x="4927967" y="0"/>
                  </a:lnTo>
                  <a:cubicBezTo>
                    <a:pt x="5052213" y="0"/>
                    <a:pt x="5153028" y="43296"/>
                    <a:pt x="5153028" y="96760"/>
                  </a:cubicBezTo>
                  <a:lnTo>
                    <a:pt x="5153028" y="483720"/>
                  </a:lnTo>
                  <a:cubicBezTo>
                    <a:pt x="5153028" y="537145"/>
                    <a:pt x="5052303" y="580568"/>
                    <a:pt x="4927967" y="580568"/>
                  </a:cubicBezTo>
                  <a:lnTo>
                    <a:pt x="225028" y="580568"/>
                  </a:lnTo>
                  <a:cubicBezTo>
                    <a:pt x="100692" y="580441"/>
                    <a:pt x="0" y="537145"/>
                    <a:pt x="0" y="483682"/>
                  </a:cubicBezTo>
                  <a:close/>
                </a:path>
              </a:pathLst>
            </a:custGeom>
            <a:solidFill>
              <a:srgbClr val="B2B1B1">
                <a:alpha val="3568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4"/>
            <p:cNvSpPr txBox="1"/>
            <p:nvPr/>
          </p:nvSpPr>
          <p:spPr>
            <a:xfrm>
              <a:off x="0" y="-28575"/>
              <a:ext cx="5152915" cy="60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45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討論模型結果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8" name="Google Shape;288;p14"/>
          <p:cNvCxnSpPr/>
          <p:nvPr/>
        </p:nvCxnSpPr>
        <p:spPr>
          <a:xfrm flipH="1" rot="10800000">
            <a:off x="802175" y="1358191"/>
            <a:ext cx="3300" cy="4708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9" name="Google Shape;289;p14"/>
          <p:cNvSpPr txBox="1"/>
          <p:nvPr/>
        </p:nvSpPr>
        <p:spPr>
          <a:xfrm>
            <a:off x="805538" y="1355569"/>
            <a:ext cx="945237" cy="19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第一次進度報告</a:t>
            </a:r>
            <a:endParaRPr b="1" i="0" sz="1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0" name="Google Shape;290;p14"/>
          <p:cNvSpPr txBox="1"/>
          <p:nvPr/>
        </p:nvSpPr>
        <p:spPr>
          <a:xfrm>
            <a:off x="2665855" y="1355571"/>
            <a:ext cx="945237" cy="19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第二次進度報告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4526045" y="1355573"/>
            <a:ext cx="945237" cy="19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第三次進度報告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14"/>
          <p:cNvCxnSpPr/>
          <p:nvPr/>
        </p:nvCxnSpPr>
        <p:spPr>
          <a:xfrm flipH="1" rot="10800000">
            <a:off x="7333434" y="1358198"/>
            <a:ext cx="3300" cy="4708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3" name="Google Shape;293;p14"/>
          <p:cNvSpPr txBox="1"/>
          <p:nvPr/>
        </p:nvSpPr>
        <p:spPr>
          <a:xfrm>
            <a:off x="7336791" y="1355575"/>
            <a:ext cx="945237" cy="19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第四次進度報告</a:t>
            </a:r>
            <a:endParaRPr b="1" i="0" sz="1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94" name="Google Shape;294;p14"/>
          <p:cNvCxnSpPr/>
          <p:nvPr/>
        </p:nvCxnSpPr>
        <p:spPr>
          <a:xfrm flipH="1" rot="10800000">
            <a:off x="9203837" y="1358200"/>
            <a:ext cx="3300" cy="4708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5" name="Google Shape;295;p14"/>
          <p:cNvSpPr txBox="1"/>
          <p:nvPr/>
        </p:nvSpPr>
        <p:spPr>
          <a:xfrm>
            <a:off x="9207191" y="1355576"/>
            <a:ext cx="945237" cy="19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第五次進度報告</a:t>
            </a:r>
            <a:endParaRPr b="1" i="0" sz="1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2026-04-05T16:10:57Z</dcterms:created>
  <dc:creator>ChatGPT</dc:creator>
</cp:coreProperties>
</file>